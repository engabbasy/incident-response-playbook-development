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36"/>
  </p:notesMasterIdLst>
  <p:sldIdLst>
    <p:sldId id="308" r:id="rId3"/>
    <p:sldId id="309" r:id="rId4"/>
    <p:sldId id="311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280" r:id="rId19"/>
    <p:sldId id="263" r:id="rId20"/>
    <p:sldId id="292" r:id="rId21"/>
    <p:sldId id="294" r:id="rId22"/>
    <p:sldId id="293" r:id="rId23"/>
    <p:sldId id="290" r:id="rId24"/>
    <p:sldId id="291" r:id="rId25"/>
    <p:sldId id="26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88" autoAdjust="0"/>
    <p:restoredTop sz="94444" autoAdjust="0"/>
  </p:normalViewPr>
  <p:slideViewPr>
    <p:cSldViewPr snapToGrid="0" snapToObjects="1">
      <p:cViewPr varScale="1">
        <p:scale>
          <a:sx n="103" d="100"/>
          <a:sy n="103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069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37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29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09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your names, university/course, and date. The presentation covers both the theoretical IR lifecycle and a practical phishing-to-ransomware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63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briefly. This presentation is split into theory and practice — first the lifecycle model, then a live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7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IR is not just a technical process — it is a business-critical function. Organizations that lack a formal IR plan suffer longer downtime and greater financial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2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NIST-aligned IR lifecycle. Emphasize that it is cyclical — Lessons Learned feeds back into Preparation. The six phases will each be covered in detail on the following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15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Preparation is the most impactful phase — organizations with mature IR plans recover 3x faster. Detection quality depends on tooling AND trained analysts.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76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Containment is time-critical — every minute of delay risks lateral movement. Eradication must be thorough; partial removal leads to reinfection.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83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Recovery must include validation — not just restoration. Lessons Learned is the most neglected phase but delivers the highest long-term ROI in security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34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scenario is realistic — double-extension filenames (.pdf.exe) are a common social engineering tactic. The email spoofed internal HR branding to maximize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1576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Triage quality determines response speed. The containment was three-pronged: endpoint, account, and network — covering all possible propagation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193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Eradication must be verified before recovery begins — restoring infected systems defeats the purpose. Post-recovery monitoring is critical in the first 72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2958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PIA should be conducted within 72 hours post-incident while details are fresh. Present findings to management with concrete remediation timelines.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958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presentation here. Reiterate that IR is both proactive and reactive — the scenario demonstrated how every phase of the lifecycle played out in a real attack.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110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closing quote and invite questions. Be prepared to discuss the PIA findings and any specific technical details from the phishing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012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67253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72444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76455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31362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981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869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41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3311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4960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86417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6774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86910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32128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28409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4437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0427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7571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5480" y="0"/>
            <a:ext cx="0" cy="514350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508760"/>
            <a:ext cx="9144000" cy="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022566"/>
            <a:ext cx="9144000" cy="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514600"/>
            <a:ext cx="9144000" cy="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520440"/>
            <a:ext cx="9144000" cy="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526280"/>
            <a:ext cx="9144000" cy="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532120"/>
            <a:ext cx="9144000" cy="0"/>
          </a:xfrm>
          <a:prstGeom prst="line">
            <a:avLst/>
          </a:prstGeom>
          <a:noFill/>
          <a:ln w="6350">
            <a:solidFill>
              <a:srgbClr val="1A2E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65760"/>
            <a:ext cx="3200400" cy="4389120"/>
          </a:xfrm>
          <a:prstGeom prst="ellipse">
            <a:avLst/>
          </a:prstGeom>
          <a:solidFill>
            <a:srgbClr val="003320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31520"/>
            <a:ext cx="2286000" cy="228600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457200" y="457200"/>
            <a:ext cx="1645920" cy="320040"/>
          </a:xfrm>
          <a:prstGeom prst="rect">
            <a:avLst/>
          </a:prstGeom>
          <a:solidFill>
            <a:srgbClr val="006633"/>
          </a:solidFill>
          <a:ln w="1270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457200" y="457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FF88"/>
                </a:solidFill>
              </a:rPr>
              <a:t>MITRE ATT&amp;CK T1566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2240280" y="457200"/>
            <a:ext cx="1280160" cy="320040"/>
          </a:xfrm>
          <a:prstGeom prst="rect">
            <a:avLst/>
          </a:prstGeom>
          <a:solidFill>
            <a:srgbClr val="006633"/>
          </a:solidFill>
          <a:ln w="1270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2240280" y="457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FF88"/>
                </a:solidFill>
              </a:rPr>
              <a:t>NIST SP 800-61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3657600" y="457200"/>
            <a:ext cx="914400" cy="320040"/>
          </a:xfrm>
          <a:prstGeom prst="rect">
            <a:avLst/>
          </a:prstGeom>
          <a:solidFill>
            <a:srgbClr val="006633"/>
          </a:solidFill>
          <a:ln w="1270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3657600" y="457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FF88"/>
                </a:solidFill>
              </a:rPr>
              <a:t>SANS IH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457200" y="944879"/>
            <a:ext cx="5760720" cy="10972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INCIDENT RESPONSE</a:t>
            </a:r>
            <a:endParaRPr lang="en-US" sz="4000" dirty="0"/>
          </a:p>
        </p:txBody>
      </p:sp>
      <p:sp>
        <p:nvSpPr>
          <p:cNvPr id="44" name="Text 41"/>
          <p:cNvSpPr/>
          <p:nvPr/>
        </p:nvSpPr>
        <p:spPr>
          <a:xfrm>
            <a:off x="457200" y="2013858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600" dirty="0" smtClean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PLAYBOOK</a:t>
            </a:r>
            <a:endParaRPr lang="en-US" sz="4000" dirty="0"/>
          </a:p>
        </p:txBody>
      </p:sp>
      <p:sp>
        <p:nvSpPr>
          <p:cNvPr id="45" name="Text 42"/>
          <p:cNvSpPr/>
          <p:nvPr/>
        </p:nvSpPr>
        <p:spPr>
          <a:xfrm>
            <a:off x="457200" y="269748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89A"/>
                </a:solidFill>
              </a:rPr>
              <a:t>Phishing Attack Detection, Containment &amp; Recovery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457200" y="3246120"/>
            <a:ext cx="5029200" cy="0"/>
          </a:xfrm>
          <a:prstGeom prst="line">
            <a:avLst/>
          </a:prstGeom>
          <a:noFill/>
          <a:ln w="12700">
            <a:solidFill>
              <a:srgbClr val="00663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57200" y="3259455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9A"/>
                </a:solidFill>
              </a:rPr>
              <a:t>Team: Mohamed Abbasy  |  Mohamed Hesham  |  Marvel Ghobrial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57200" y="36652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633"/>
                </a:solidFill>
              </a:rPr>
              <a:t>Supervisor: Eng. Mohamed  |  Course: Incident Response  |  2026</a:t>
            </a:r>
            <a:endParaRPr lang="en-US" sz="1000" b="1" dirty="0"/>
          </a:p>
        </p:txBody>
      </p:sp>
      <p:sp>
        <p:nvSpPr>
          <p:cNvPr id="49" name="Shape 4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66537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CONTRIBUTIONS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12700">
            <a:solidFill>
              <a:srgbClr val="0066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2788920" cy="388620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278892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896112"/>
            <a:ext cx="868680" cy="868680"/>
          </a:xfrm>
          <a:prstGeom prst="ellipse">
            <a:avLst/>
          </a:prstGeom>
          <a:solidFill>
            <a:srgbClr val="00663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89611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77240" y="1847088"/>
            <a:ext cx="1783080" cy="237744"/>
          </a:xfrm>
          <a:prstGeom prst="rect">
            <a:avLst/>
          </a:prstGeom>
          <a:solidFill>
            <a:srgbClr val="006633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470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smtClean="0">
                <a:solidFill>
                  <a:srgbClr val="00FF88"/>
                </a:solidFill>
              </a:rPr>
              <a:t>PRESENTER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1396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Mohamed Ahmed Abbasy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468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C86E"/>
                </a:solidFill>
              </a:rPr>
              <a:t>Project Manager &amp; Team Lead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2423160" cy="0"/>
          </a:xfrm>
          <a:prstGeom prst="line">
            <a:avLst/>
          </a:prstGeom>
          <a:noFill/>
          <a:ln w="6350">
            <a:solidFill>
              <a:srgbClr val="0066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529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9A"/>
                </a:solidFill>
              </a:rPr>
              <a:t>›  Project planning, timeline &amp; GitHub management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23697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9A"/>
                </a:solidFill>
              </a:rPr>
              <a:t>›  Presentation delivery &amp; project overview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62102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FA89A"/>
                </a:solidFill>
              </a:rPr>
              <a:t>› </a:t>
            </a:r>
            <a:r>
              <a:rPr lang="en-US" sz="900" dirty="0" smtClean="0">
                <a:solidFill>
                  <a:srgbClr val="8FA89A"/>
                </a:solidFill>
              </a:rPr>
              <a:t>Phishing Project Playbook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804672"/>
            <a:ext cx="2788920" cy="388620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804672"/>
            <a:ext cx="278892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896112"/>
            <a:ext cx="868680" cy="868680"/>
          </a:xfrm>
          <a:prstGeom prst="ellipse">
            <a:avLst/>
          </a:prstGeom>
          <a:solidFill>
            <a:srgbClr val="00663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89611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3749040" y="1847088"/>
            <a:ext cx="1783080" cy="237744"/>
          </a:xfrm>
          <a:prstGeom prst="rect">
            <a:avLst/>
          </a:prstGeom>
          <a:solidFill>
            <a:srgbClr val="006633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18470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88"/>
                </a:solidFill>
              </a:rPr>
              <a:t>RESEARCH LEAD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37560" y="21396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Mohamed Hesham Farouk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2468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C86E"/>
                </a:solidFill>
              </a:rPr>
              <a:t>Security Specialist &amp; Researcher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29000" y="2779776"/>
            <a:ext cx="2423160" cy="0"/>
          </a:xfrm>
          <a:prstGeom prst="line">
            <a:avLst/>
          </a:prstGeom>
          <a:noFill/>
          <a:ln w="6350">
            <a:solidFill>
              <a:srgbClr val="0066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8529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9A"/>
                </a:solidFill>
              </a:rPr>
              <a:t>›  Literature review </a:t>
            </a:r>
            <a:r>
              <a:rPr lang="en-US" sz="900" dirty="0" smtClean="0">
                <a:solidFill>
                  <a:srgbClr val="8FA89A"/>
                </a:solidFill>
              </a:rPr>
              <a:t>— </a:t>
            </a:r>
            <a:r>
              <a:rPr lang="en-US" sz="900" dirty="0">
                <a:solidFill>
                  <a:srgbClr val="8FA89A"/>
                </a:solidFill>
              </a:rPr>
              <a:t>NIST 800-61, SANS, MITRE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804672"/>
            <a:ext cx="2788920" cy="388620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804672"/>
            <a:ext cx="278892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78040" y="896112"/>
            <a:ext cx="868680" cy="868680"/>
          </a:xfrm>
          <a:prstGeom prst="ellipse">
            <a:avLst/>
          </a:prstGeom>
          <a:solidFill>
            <a:srgbClr val="00663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89611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6720840" y="1847088"/>
            <a:ext cx="1783080" cy="237744"/>
          </a:xfrm>
          <a:prstGeom prst="rect">
            <a:avLst/>
          </a:prstGeom>
          <a:solidFill>
            <a:srgbClr val="006633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18470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88"/>
                </a:solidFill>
              </a:rPr>
              <a:t>DESIGN LEAD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09360" y="21396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Marvel Ghobrial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2468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C86E"/>
                </a:solidFill>
              </a:rPr>
              <a:t>Design Lead &amp; Documentation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0" y="2779776"/>
            <a:ext cx="2423160" cy="0"/>
          </a:xfrm>
          <a:prstGeom prst="line">
            <a:avLst/>
          </a:prstGeom>
          <a:noFill/>
          <a:ln w="6350">
            <a:solidFill>
              <a:srgbClr val="0066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8529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FA89A"/>
                </a:solidFill>
              </a:rPr>
              <a:t>›  Detection, Containment &amp; Recovery from Cyber Threats</a:t>
            </a:r>
          </a:p>
        </p:txBody>
      </p:sp>
      <p:sp>
        <p:nvSpPr>
          <p:cNvPr id="41" name="Text 39"/>
          <p:cNvSpPr/>
          <p:nvPr/>
        </p:nvSpPr>
        <p:spPr>
          <a:xfrm>
            <a:off x="6355080" y="323697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9A"/>
                </a:solidFill>
              </a:rPr>
              <a:t>›  6-Phase IR Playbook detailed content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55080" y="362102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9A"/>
                </a:solidFill>
              </a:rPr>
              <a:t>›  Simulation scenario &amp; Final Report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55080" y="400507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5196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 smtClean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</a:t>
            </a:r>
            <a:r>
              <a:rPr lang="en-US" sz="2400" b="1" kern="0" spc="20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12700">
            <a:solidFill>
              <a:srgbClr val="0066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5029200" cy="169164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54864" cy="16916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FF88"/>
                </a:solidFill>
              </a:rPr>
              <a:t>OBJECTIVE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Design a structured and practical Incident Response Playbook to effectively detect, contain, eradicate, and recover from phishing attacks within small-to-medium organizations.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822960"/>
            <a:ext cx="3154680" cy="169164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77840" y="822960"/>
            <a:ext cx="54864" cy="16916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868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FF88"/>
                </a:solidFill>
              </a:rPr>
              <a:t>STANDARDS ALIGNMENT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15000" y="1207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✦  MITRE ATT&amp;CK — Technique T1566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15000" y="15910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✦  NIST SP 800-61 Rev.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0" y="19751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✦  SANS Incident Handler's Handbook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1965960" cy="118872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834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65760" y="3429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9A"/>
                </a:solidFill>
              </a:rPr>
              <a:t>Playbook Phases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0" y="2743200"/>
            <a:ext cx="1965960" cy="118872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0" y="2834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2560320" y="3429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9A"/>
                </a:solidFill>
              </a:rPr>
              <a:t>Functional Req.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1965960" cy="118872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2834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754880" y="3429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9A"/>
                </a:solidFill>
              </a:rPr>
              <a:t>UML Diagrams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49440" y="2743200"/>
            <a:ext cx="1965960" cy="118872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49440" y="2834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5h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949440" y="3429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9A"/>
                </a:solidFill>
              </a:rPr>
              <a:t>Containment Time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114800"/>
            <a:ext cx="8366760" cy="640080"/>
          </a:xfrm>
          <a:prstGeom prst="rect">
            <a:avLst/>
          </a:prstGeom>
          <a:solidFill>
            <a:srgbClr val="0D2018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160520"/>
            <a:ext cx="809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89A"/>
                </a:solidFill>
              </a:rPr>
              <a:t>⚠  SCOPE NOTE:  This project focuses on the Design Phase of the SDLC. Implementation and testing phases are out of scope per project requirements.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178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548640"/>
            <a:ext cx="2286000" cy="2286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0" y="2926080"/>
            <a:ext cx="548640" cy="457200"/>
          </a:xfrm>
          <a:prstGeom prst="rect">
            <a:avLst/>
          </a:prstGeom>
          <a:solidFill>
            <a:srgbClr val="1E88E5">
              <a:alpha val="20000"/>
            </a:srgbClr>
          </a:solidFill>
          <a:ln w="635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589520" y="2926080"/>
            <a:ext cx="548640" cy="457200"/>
          </a:xfrm>
          <a:prstGeom prst="rect">
            <a:avLst/>
          </a:prstGeom>
          <a:solidFill>
            <a:srgbClr val="1E88E5">
              <a:alpha val="20000"/>
            </a:srgbClr>
          </a:solidFill>
          <a:ln w="635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21040" y="2926080"/>
            <a:ext cx="548640" cy="457200"/>
          </a:xfrm>
          <a:prstGeom prst="rect">
            <a:avLst/>
          </a:prstGeom>
          <a:solidFill>
            <a:srgbClr val="1E88E5">
              <a:alpha val="20000"/>
            </a:srgbClr>
          </a:solidFill>
          <a:ln w="635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0" y="3566160"/>
            <a:ext cx="548640" cy="457200"/>
          </a:xfrm>
          <a:prstGeom prst="rect">
            <a:avLst/>
          </a:prstGeom>
          <a:solidFill>
            <a:srgbClr val="1E88E5">
              <a:alpha val="20000"/>
            </a:srgbClr>
          </a:solidFill>
          <a:ln w="635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89520" y="3566160"/>
            <a:ext cx="548640" cy="457200"/>
          </a:xfrm>
          <a:prstGeom prst="rect">
            <a:avLst/>
          </a:prstGeom>
          <a:solidFill>
            <a:srgbClr val="1E88E5">
              <a:alpha val="20000"/>
            </a:srgbClr>
          </a:solidFill>
          <a:ln w="635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21040" y="3566160"/>
            <a:ext cx="548640" cy="457200"/>
          </a:xfrm>
          <a:prstGeom prst="rect">
            <a:avLst/>
          </a:prstGeom>
          <a:solidFill>
            <a:srgbClr val="1E88E5">
              <a:alpha val="20000"/>
            </a:srgbClr>
          </a:solidFill>
          <a:ln w="635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9144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11480" y="20116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Containment &amp; Recovery from Cyber Threats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11480" y="2697480"/>
            <a:ext cx="36576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28803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Presented </a:t>
            </a:r>
            <a:r>
              <a:rPr lang="en-US" sz="14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by : Marvel Ghobrial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Incident Response | 2026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733221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502920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17043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Incident Response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objectives, and importance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31720"/>
            <a:ext cx="502920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4048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Lifecycle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28072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phases: Preparation → Lessons Learned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66160"/>
            <a:ext cx="502920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36393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8680" y="40416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 leading to ransomware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97280"/>
            <a:ext cx="502920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117043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Phase-by-Phase Walkthrough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349240" y="15727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containment, eradication &amp; recovery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31720"/>
            <a:ext cx="502920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24048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Analysis (PIA)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349240" y="28072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business impact, and improvements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66160"/>
            <a:ext cx="502920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36393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349240" y="40416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and recommendations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27743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Incident Response?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structured and organized approach to detect, analyze, contain, eradicate, and recover from cybersecurity incidents — protecting operations, data, and reputation."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2103120"/>
            <a:ext cx="20116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30428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288036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Attacks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65760" y="3264408"/>
            <a:ext cx="18288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detect and halt active threats before major damage occurs.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50592" y="2103120"/>
            <a:ext cx="20116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230428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0" y="288036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Data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542032" y="3264408"/>
            <a:ext cx="18288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 sensitive information and preserve digital evidence.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26864" y="2111912"/>
            <a:ext cx="20116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2304288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36592" y="288036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Continuity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718304" y="3264408"/>
            <a:ext cx="18288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downtime and restore normal operations swiftly.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803136" y="2103120"/>
            <a:ext cx="20116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944" y="2304288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12864" y="288036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Compliance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894576" y="3264408"/>
            <a:ext cx="18288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regulatory and cybersecurity standard requirements.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Threats: Phishing  •  Ransomware  •  Malware  •  Data Breaches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71541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Lifecycle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2258568"/>
            <a:ext cx="141732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03704" y="2176272"/>
            <a:ext cx="128016" cy="21945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914400" cy="914400"/>
          </a:xfrm>
          <a:prstGeom prst="ellipse">
            <a:avLst/>
          </a:prstGeom>
          <a:solidFill>
            <a:srgbClr val="1E88E5">
              <a:alpha val="80000"/>
            </a:srgbClr>
          </a:solidFill>
          <a:ln w="25400">
            <a:solidFill>
              <a:srgbClr val="1E88E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993392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05840" y="1783080"/>
            <a:ext cx="292608" cy="292608"/>
          </a:xfrm>
          <a:prstGeom prst="ellipse">
            <a:avLst/>
          </a:prstGeom>
          <a:solidFill>
            <a:srgbClr val="1E88E5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440" y="2834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377440" y="2258568"/>
            <a:ext cx="14173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12464" y="2176272"/>
            <a:ext cx="128016" cy="21945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74520" y="1828800"/>
            <a:ext cx="914400" cy="914400"/>
          </a:xfrm>
          <a:prstGeom prst="ellipse">
            <a:avLst/>
          </a:prstGeom>
          <a:solidFill>
            <a:srgbClr val="00BCD4">
              <a:alpha val="80000"/>
            </a:srgbClr>
          </a:solidFill>
          <a:ln w="25400">
            <a:solidFill>
              <a:srgbClr val="00BCD4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832" y="1993392"/>
            <a:ext cx="502920" cy="5029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514600" y="1783080"/>
            <a:ext cx="292608" cy="292608"/>
          </a:xfrm>
          <a:prstGeom prst="ellipse">
            <a:avLst/>
          </a:prstGeom>
          <a:solidFill>
            <a:srgbClr val="00BCD4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51460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600200" y="2834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Analysis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886200" y="2258568"/>
            <a:ext cx="141732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221224" y="2176272"/>
            <a:ext cx="128016" cy="21945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E67E22">
              <a:alpha val="80000"/>
            </a:srgbClr>
          </a:solidFill>
          <a:ln w="25400">
            <a:solidFill>
              <a:srgbClr val="E67E22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1993392"/>
            <a:ext cx="502920" cy="5029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023360" y="1783080"/>
            <a:ext cx="292608" cy="292608"/>
          </a:xfrm>
          <a:prstGeom prst="ellipse">
            <a:avLst/>
          </a:prstGeom>
          <a:solidFill>
            <a:srgbClr val="E67E22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02336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108960" y="2834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394960" y="2258568"/>
            <a:ext cx="141732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729984" y="2176272"/>
            <a:ext cx="128016" cy="21945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892040" y="1828800"/>
            <a:ext cx="914400" cy="914400"/>
          </a:xfrm>
          <a:prstGeom prst="ellipse">
            <a:avLst/>
          </a:prstGeom>
          <a:solidFill>
            <a:srgbClr val="E74C3C">
              <a:alpha val="80000"/>
            </a:srgbClr>
          </a:solidFill>
          <a:ln w="25400">
            <a:solidFill>
              <a:srgbClr val="E74C3C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1993392"/>
            <a:ext cx="502920" cy="50292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532120" y="1783080"/>
            <a:ext cx="292608" cy="292608"/>
          </a:xfrm>
          <a:prstGeom prst="ellipse">
            <a:avLst/>
          </a:prstGeom>
          <a:solidFill>
            <a:srgbClr val="E74C3C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53212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617720" y="2834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Eradication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903720" y="2258568"/>
            <a:ext cx="128016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101584" y="2176272"/>
            <a:ext cx="128016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400800" y="1828800"/>
            <a:ext cx="914400" cy="914400"/>
          </a:xfrm>
          <a:prstGeom prst="ellipse">
            <a:avLst/>
          </a:prstGeom>
          <a:solidFill>
            <a:srgbClr val="27AE60">
              <a:alpha val="80000"/>
            </a:srgbClr>
          </a:solidFill>
          <a:ln w="25400">
            <a:solidFill>
              <a:srgbClr val="27AE60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1993392"/>
            <a:ext cx="502920" cy="502920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7040880" y="1783080"/>
            <a:ext cx="292608" cy="292608"/>
          </a:xfrm>
          <a:prstGeom prst="ellipse">
            <a:avLst/>
          </a:prstGeom>
          <a:solidFill>
            <a:srgbClr val="27AE60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04088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6126480" y="2834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7772400" y="1828800"/>
            <a:ext cx="914400" cy="914400"/>
          </a:xfrm>
          <a:prstGeom prst="ellipse">
            <a:avLst/>
          </a:prstGeom>
          <a:solidFill>
            <a:srgbClr val="F1C40F">
              <a:alpha val="80000"/>
            </a:srgbClr>
          </a:solidFill>
          <a:ln w="25400">
            <a:solidFill>
              <a:srgbClr val="F1C40F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2712" y="1993392"/>
            <a:ext cx="502920" cy="50292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8412480" y="1783080"/>
            <a:ext cx="292608" cy="292608"/>
          </a:xfrm>
          <a:prstGeom prst="ellipse">
            <a:avLst/>
          </a:prstGeom>
          <a:solidFill>
            <a:srgbClr val="F1C40F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841248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7498080" y="2834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continuous cycle — each incident strengthens future security posture."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36306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Preparation  |  Phase 2: Detection &amp;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78992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0332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Preparation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20040" y="15727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readiness before any incident occurs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1938528"/>
            <a:ext cx="402336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&amp; Antivirus solutions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monitoring systems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 strategies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training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Playbook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0040" y="3858768"/>
            <a:ext cx="402336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C5DF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39044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Ensure the organization is ready to respond effectively to any cyber threat.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00584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005840"/>
            <a:ext cx="4206240" cy="457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078992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6360" y="10332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Detection &amp; Analysis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800600" y="15727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analyze suspicious activities to identify threats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00600" y="1938528"/>
            <a:ext cx="402336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&amp; EDR alerts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security flagging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logs review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monitoring tools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triage: true vs. false positive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800600" y="3858768"/>
            <a:ext cx="4023360" cy="594360"/>
          </a:xfrm>
          <a:prstGeom prst="rect">
            <a:avLst/>
          </a:prstGeom>
          <a:solidFill>
            <a:srgbClr val="E0F9FC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92040" y="39044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team determines severity and classifies: High / Medium / Low incident.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9239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Containment  |  Phase 4: Eradication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78992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0332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Containment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20040" y="15727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the attack from spreading further across the network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1938528"/>
            <a:ext cx="402336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infected systems from network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compromised user accounts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malicious domains &amp; IP addresses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MFA on critical accounts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SMB lateral movement paths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0040" y="3858768"/>
            <a:ext cx="4023360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39044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Minimize organizational impact and prevent lateral movement.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00584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005840"/>
            <a:ext cx="420624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078992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6360" y="10332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Eradication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800600" y="15727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remove the root cause from the environment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00600" y="1938528"/>
            <a:ext cx="402336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malware and malicious files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malicious registry entries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PowerShell persistence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security patches &amp; updates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 unauthorized sessions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800600" y="3858768"/>
            <a:ext cx="4023360" cy="59436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92040" y="39044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Ensure the threat no longer exists anywhere in the environment.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49009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Recovery  |  Phase 6: Lessons Learned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78992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0332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Recovery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20040" y="15727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systems and services safely to normal operations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1938528"/>
            <a:ext cx="402336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systems from clean backups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Gradually reconnect workstations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critical business services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reinfection attempts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business operations resume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0040" y="3858768"/>
            <a:ext cx="402336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39044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Resume normal operations with no active threats remaining.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00584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005840"/>
            <a:ext cx="4206240" cy="45720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078992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6360" y="10332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Lessons Learned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800600" y="15727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review to strengthen future readiness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00600" y="1938528"/>
            <a:ext cx="402336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and how the attack succeeded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weaknesses in security controls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SOC response effectiveness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playbooks and detection rules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targeted training and improvements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800600" y="3858768"/>
            <a:ext cx="4023360" cy="594360"/>
          </a:xfrm>
          <a:prstGeom prst="rect">
            <a:avLst/>
          </a:prstGeom>
          <a:solidFill>
            <a:srgbClr val="FFFDE7"/>
          </a:solidFill>
          <a:ln w="12700">
            <a:solidFill>
              <a:srgbClr val="FFF17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92040" y="39044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Improve future IR readiness and overall security posture.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34133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Scenario: Phishing → Ransomware Attack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28600" y="1005840"/>
            <a:ext cx="128016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28600" y="105156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28600" y="1463040"/>
            <a:ext cx="1280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impersonation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682848" y="1809104"/>
            <a:ext cx="18288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91640" y="1005840"/>
            <a:ext cx="1280160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691640" y="105156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Opens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691640" y="1463040"/>
            <a:ext cx="1280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.pdf.exe attachment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971800" y="1417320"/>
            <a:ext cx="18288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54680" y="1005840"/>
            <a:ext cx="1280160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154680" y="105156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Runs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154680" y="1463040"/>
            <a:ext cx="1280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compromised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434840" y="1417320"/>
            <a:ext cx="18288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17720" y="1005840"/>
            <a:ext cx="1280160" cy="9144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17720" y="105156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Contact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617720" y="1463040"/>
            <a:ext cx="1280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malicious IP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97880" y="1417320"/>
            <a:ext cx="18288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80760" y="1005840"/>
            <a:ext cx="1280160" cy="914400"/>
          </a:xfrm>
          <a:prstGeom prst="rect">
            <a:avLst/>
          </a:prstGeom>
          <a:solidFill>
            <a:srgbClr val="770000"/>
          </a:solidFill>
          <a:ln w="12700">
            <a:solidFill>
              <a:srgbClr val="77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080760" y="105156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Theft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080760" y="1463040"/>
            <a:ext cx="1280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password grab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360920" y="1417320"/>
            <a:ext cx="18288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543800" y="1005840"/>
            <a:ext cx="1280160" cy="914400"/>
          </a:xfrm>
          <a:prstGeom prst="rect">
            <a:avLst/>
          </a:prstGeom>
          <a:solidFill>
            <a:srgbClr val="550000"/>
          </a:solidFill>
          <a:ln w="12700">
            <a:solidFill>
              <a:srgbClr val="55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543800" y="105156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543800" y="1463040"/>
            <a:ext cx="1280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initiated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28600" y="2176272"/>
            <a:ext cx="4114800" cy="2651760"/>
          </a:xfrm>
          <a:prstGeom prst="rect">
            <a:avLst/>
          </a:prstGeom>
          <a:solidFill>
            <a:srgbClr val="1B2B3B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286000"/>
            <a:ext cx="411480" cy="4114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22960" y="22860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Details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365760" y="2761488"/>
            <a:ext cx="388620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Finance Department employees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Sender: Impersonated HR Department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"Updated Salary Adjustment Report 2026"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Attachment: Salary_Adjustment_2026.pdf.exe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company branding to appear legitimate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800600" y="2193856"/>
            <a:ext cx="4114800" cy="2651760"/>
          </a:xfrm>
          <a:prstGeom prst="rect">
            <a:avLst/>
          </a:prstGeom>
          <a:solidFill>
            <a:srgbClr val="1B2B3B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286000"/>
            <a:ext cx="411480" cy="41148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394960" y="22860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Alerts Triggered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4937760" y="2761488"/>
            <a:ext cx="3886200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Antivirus: suspicious PowerShell activity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SIEM: unusual outbound traffic alert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GW: malicious attachment flagged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failed login attempts detected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4937760" y="4343400"/>
            <a:ext cx="3749040" cy="3657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937760" y="43525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HIGH SEVERITY INCIDENT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90250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Triage  →  Containment Actions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457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78992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0332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Triage — SOC Analysis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20040" y="1572768"/>
            <a:ext cx="256032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572768"/>
            <a:ext cx="3749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email headers &amp; SPF/DKIM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2194560"/>
            <a:ext cx="256032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194560"/>
            <a:ext cx="3749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malicious attachment behavior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" y="2816352"/>
            <a:ext cx="256032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816352"/>
            <a:ext cx="3749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if user executed the file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" y="3438144"/>
            <a:ext cx="256032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438144"/>
            <a:ext cx="3749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affected systems &amp; scope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0040" y="4059936"/>
            <a:ext cx="256032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059936"/>
            <a:ext cx="3749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EDR &amp; antivirus alerts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0040" y="3858768"/>
            <a:ext cx="4023360" cy="594360"/>
          </a:xfrm>
          <a:prstGeom prst="rect">
            <a:avLst/>
          </a:prstGeom>
          <a:solidFill>
            <a:srgbClr val="E3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39044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Malware executed · Malicious C2 contact confirmed · Credential theft detected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09160" y="1023424"/>
            <a:ext cx="4206240" cy="4137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1005840"/>
            <a:ext cx="420624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078992"/>
            <a:ext cx="301752" cy="30175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166360" y="10332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Actions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4800600" y="15727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4892040" y="1874520"/>
            <a:ext cx="39319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from network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AD communication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blocked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800600" y="28803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4892040" y="3182112"/>
            <a:ext cx="39319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 disabled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password reset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enforced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800600" y="41879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4892040" y="4489704"/>
            <a:ext cx="39319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IPs blocked on firewall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blacklisted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removed from all inboxes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2877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Eradication  →  Recovery  →  Monitoring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4320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1143000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7190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" y="2130552"/>
            <a:ext cx="256032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malware &amp; malicious files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registry persistence entries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PowerShell persistence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AV &amp; EDR scans performed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vulnerabilities identified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71800" y="2962656"/>
            <a:ext cx="228600" cy="64008"/>
          </a:xfrm>
          <a:prstGeom prst="rect">
            <a:avLst/>
          </a:prstGeom>
          <a:solidFill>
            <a:srgbClr val="7A909F"/>
          </a:solidFill>
          <a:ln w="12700">
            <a:solidFill>
              <a:srgbClr val="7A909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0" y="100584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005840"/>
            <a:ext cx="27432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143000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17190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91840" y="2130552"/>
            <a:ext cx="256032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from clean verified backups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 workstations gradually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critical services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business operations carefully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no active malware remains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43600" y="2962656"/>
            <a:ext cx="228600" cy="64008"/>
          </a:xfrm>
          <a:prstGeom prst="rect">
            <a:avLst/>
          </a:prstGeom>
          <a:solidFill>
            <a:srgbClr val="7A909F"/>
          </a:solidFill>
          <a:ln w="12700">
            <a:solidFill>
              <a:srgbClr val="7A909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72200" y="100584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72200" y="1005840"/>
            <a:ext cx="27432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1143000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17190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Post-Recovery Monitoring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63640" y="2130552"/>
            <a:ext cx="256032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monitoring intensified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behavior analysis enabled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watched continuously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detection rules updated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phishing rules deployed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7890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Analysis (PIA) &amp; Lessons Learned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/>
          </p:nvPr>
        </p:nvGraphicFramePr>
        <p:xfrm>
          <a:off x="274320" y="1005840"/>
          <a:ext cx="8595360" cy="27432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email bypassed user trust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 advanced phishing awareness 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was not fully enforced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organization-wide MFA immediately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occurred after malware executed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pre-execution endpoint protection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awareness needed improvement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Strengthen email filtering and simulation drills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 movement paths were 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 endpoint monitoring &amp; network segmentation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160520"/>
            <a:ext cx="8595360" cy="822960"/>
          </a:xfrm>
          <a:prstGeom prst="rect">
            <a:avLst/>
          </a:prstGeom>
          <a:solidFill>
            <a:srgbClr val="E8F4FD"/>
          </a:solidFill>
          <a:ln w="12700">
            <a:solidFill>
              <a:srgbClr val="C5D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5196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331720" y="4206240"/>
            <a:ext cx="6400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dept. disruption  •  Limited downtime  •  Risk of data exposure  •  Increased SOC workload — contained without major data loss.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85139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28600" y="1051560"/>
            <a:ext cx="2743200" cy="1645920"/>
          </a:xfrm>
          <a:prstGeom prst="rect">
            <a:avLst/>
          </a:prstGeom>
          <a:solidFill>
            <a:srgbClr val="1B2B3B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1051560"/>
            <a:ext cx="27432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216152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5528" y="121615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is a Business Function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65760" y="1673352"/>
            <a:ext cx="25146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technical — protects reputation, operations, and regulatory standing.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154680" y="1051560"/>
            <a:ext cx="2743200" cy="1645920"/>
          </a:xfrm>
          <a:prstGeom prst="rect">
            <a:avLst/>
          </a:prstGeom>
          <a:solidFill>
            <a:srgbClr val="1B2B3B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154680" y="1051560"/>
            <a:ext cx="27432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1216152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21608" y="121615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Matters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291840" y="1673352"/>
            <a:ext cx="25146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6-phase lifecycle ensures faster, more effective incident resolution.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080760" y="1051560"/>
            <a:ext cx="2743200" cy="1645920"/>
          </a:xfrm>
          <a:prstGeom prst="rect">
            <a:avLst/>
          </a:prstGeom>
          <a:solidFill>
            <a:srgbClr val="1B2B3B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080760" y="1051560"/>
            <a:ext cx="274320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121615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47688" y="121615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is Critical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217920" y="1673352"/>
            <a:ext cx="25146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sooner an incident is detected, the less damage and cost it causes.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228600" y="2862072"/>
            <a:ext cx="2743200" cy="1645920"/>
          </a:xfrm>
          <a:prstGeom prst="rect">
            <a:avLst/>
          </a:prstGeom>
          <a:solidFill>
            <a:srgbClr val="1B2B3B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228600" y="2862072"/>
            <a:ext cx="27432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026664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95528" y="302666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Coordination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65760" y="3483864"/>
            <a:ext cx="25146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SOC, IT, management, and legal must work together during and after an incident.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3154680" y="2862072"/>
            <a:ext cx="2743200" cy="1645920"/>
          </a:xfrm>
          <a:prstGeom prst="rect">
            <a:avLst/>
          </a:prstGeom>
          <a:solidFill>
            <a:srgbClr val="1B2B3B"/>
          </a:solidFill>
          <a:ln w="12700">
            <a:solidFill>
              <a:srgbClr val="F1C40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154680" y="2862072"/>
            <a:ext cx="2743200" cy="54864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3026664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721608" y="302666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3291840" y="3483864"/>
            <a:ext cx="25146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is a learning opportunity to strengthen future defenses.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6080760" y="2862072"/>
            <a:ext cx="2743200" cy="1645920"/>
          </a:xfrm>
          <a:prstGeom prst="rect">
            <a:avLst/>
          </a:prstGeom>
          <a:solidFill>
            <a:srgbClr val="1B2B3B"/>
          </a:solidFill>
          <a:ln w="12700">
            <a:solidFill>
              <a:srgbClr val="BB86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080760" y="2862072"/>
            <a:ext cx="2743200" cy="54864"/>
          </a:xfrm>
          <a:prstGeom prst="rect">
            <a:avLst/>
          </a:prstGeom>
          <a:solidFill>
            <a:srgbClr val="BB86FC"/>
          </a:solidFill>
          <a:ln w="12700">
            <a:solidFill>
              <a:srgbClr val="BB86FC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3026664"/>
            <a:ext cx="384048" cy="38404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647688" y="302666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the Perimeter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6217920" y="3483864"/>
            <a:ext cx="25146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training is the most cost-effective defense against phishing.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87251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5669280" y="457200"/>
            <a:ext cx="292608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822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"Incident Response is not only a technical process,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11480" y="148132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critical business function that protects operations,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11480" y="213969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and reputation against evolving cyber threats."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11480" y="2944368"/>
            <a:ext cx="274320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37947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32753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6192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48256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72384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84448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96512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32704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4768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56832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68896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3024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05088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7152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12064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24128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048256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584448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096512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82296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🛡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11480" y="411480"/>
            <a:ext cx="1737360" cy="237744"/>
          </a:xfrm>
          <a:prstGeom prst="rect">
            <a:avLst/>
          </a:prstGeom>
          <a:solidFill>
            <a:srgbClr val="006633"/>
          </a:solidFill>
          <a:ln w="10160">
            <a:solidFill>
              <a:srgbClr val="00FF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114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MITRE ATT&amp;CK T1566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286000" y="411480"/>
            <a:ext cx="1371600" cy="237744"/>
          </a:xfrm>
          <a:prstGeom prst="rect">
            <a:avLst/>
          </a:prstGeom>
          <a:solidFill>
            <a:srgbClr val="006633"/>
          </a:solidFill>
          <a:ln w="10160">
            <a:solidFill>
              <a:srgbClr val="00FF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0" y="411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NIST SP 800-61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794760" y="411480"/>
            <a:ext cx="1005840" cy="237744"/>
          </a:xfrm>
          <a:prstGeom prst="rect">
            <a:avLst/>
          </a:prstGeom>
          <a:solidFill>
            <a:srgbClr val="006633"/>
          </a:solidFill>
          <a:ln w="10160">
            <a:solidFill>
              <a:srgbClr val="00FF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94760" y="4114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SANS PICERL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476756" y="1258442"/>
            <a:ext cx="6458204" cy="1109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0" cap="none" spc="50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PLAYBOOK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11480" y="24871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Bank Notification Phishing — SILVER PHANTOM Simulation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11480" y="2944368"/>
            <a:ext cx="5303520" cy="0"/>
          </a:xfrm>
          <a:prstGeom prst="line">
            <a:avLst/>
          </a:prstGeom>
          <a:noFill/>
          <a:ln w="12700">
            <a:solidFill>
              <a:srgbClr val="0066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1480" y="306324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991122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445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SEVERITY: HIGH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737360" y="306324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9966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0" y="3063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APT: SILVER PHANTOM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11480" y="349300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Target: Sarah Chen — Junior Accountant @ FinServe Corp.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Duration: 09:00–14:00  |  Attack: T1566.002 Spearphishing Link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11480" y="4160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11480" y="4083177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Supervisor: Eng. Mohamed  |  Incident Response Course —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1427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 smtClean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SIMULATION </a:t>
            </a:r>
            <a:r>
              <a:rPr lang="en-US" sz="2400" b="1" kern="0" spc="20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SCENARIO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89A"/>
                </a:solidFill>
              </a:rPr>
              <a:t>Real-world phishing attack walkthrough — Bank Notification Impersonation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solidFill>
            <a:srgbClr val="0D2018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5097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SCENARIO:  An employee at a mid-size financial firm receives an email impersonating their bank, urging them to verify account details via a malicious link. The email bypasses the spam filter due to a spoofed legitimate domain.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4114800" cy="54864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1719072"/>
            <a:ext cx="256032" cy="256032"/>
          </a:xfrm>
          <a:prstGeom prst="ellipse">
            <a:avLst/>
          </a:prstGeom>
          <a:solidFill>
            <a:srgbClr val="8FA8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276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89A"/>
                </a:solidFill>
              </a:rPr>
              <a:t>09:00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00200" y="1627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89A"/>
                </a:solidFill>
              </a:rPr>
              <a:t>Detection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" y="1865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Phishing email received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231136"/>
            <a:ext cx="4114800" cy="54864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" y="2377440"/>
            <a:ext cx="256032" cy="25603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2860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444"/>
                </a:solidFill>
              </a:rPr>
              <a:t>09:15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020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89A"/>
                </a:solidFill>
              </a:rPr>
              <a:t>Compromised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" y="25237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Employee clicks link — credentials entered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889504"/>
            <a:ext cx="4114800" cy="54864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" y="3035808"/>
            <a:ext cx="256032" cy="256032"/>
          </a:xfrm>
          <a:prstGeom prst="ellipse">
            <a:avLst/>
          </a:prstGeom>
          <a:solidFill>
            <a:srgbClr val="FFA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94436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A00"/>
                </a:solidFill>
              </a:rPr>
              <a:t>09:30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00200" y="2944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89A"/>
                </a:solidFill>
              </a:rPr>
              <a:t>Report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" y="31821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Employee reports suspicious activity to IT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547872"/>
            <a:ext cx="4114800" cy="54864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" y="3694176"/>
            <a:ext cx="256032" cy="256032"/>
          </a:xfrm>
          <a:prstGeom prst="ellipse">
            <a:avLst/>
          </a:prstGeom>
          <a:solidFill>
            <a:srgbClr val="00C8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60273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6E"/>
                </a:solidFill>
              </a:rPr>
              <a:t>09:45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00200" y="36027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89A"/>
                </a:solidFill>
              </a:rPr>
              <a:t>Identification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" y="3840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SOC Analyst confirms phishing — IoCs identified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206240"/>
            <a:ext cx="4114800" cy="54864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8912" y="4352544"/>
            <a:ext cx="256032" cy="25603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26110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8"/>
                </a:solidFill>
              </a:rPr>
              <a:t>10:00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00200" y="4261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89A"/>
                </a:solidFill>
              </a:rPr>
              <a:t>Phase 2 Start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7240" y="44988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Playbook activated — Incident ticket created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1572768"/>
            <a:ext cx="4114800" cy="54864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82312" y="1719072"/>
            <a:ext cx="256032" cy="25603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16276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8"/>
                </a:solidFill>
              </a:rPr>
              <a:t>10:30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1627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89A"/>
                </a:solidFill>
              </a:rPr>
              <a:t>Containment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20640" y="1865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Domain blocked, endpoint isolated, account suspended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2231136"/>
            <a:ext cx="4114800" cy="54864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82312" y="2377440"/>
            <a:ext cx="256032" cy="25603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22860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8"/>
                </a:solidFill>
              </a:rPr>
              <a:t>12:00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89A"/>
                </a:solidFill>
              </a:rPr>
              <a:t>Eradication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20640" y="25237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Malware removed, credentials reset, patches applied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2889504"/>
            <a:ext cx="4114800" cy="54864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82312" y="3035808"/>
            <a:ext cx="256032" cy="25603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294436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8"/>
                </a:solidFill>
              </a:rPr>
              <a:t>14:00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43600" y="2944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89A"/>
                </a:solidFill>
              </a:rPr>
              <a:t>Recovery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20640" y="31821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Systems restored, monitoring initiated (72 hrs)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9160" y="3547872"/>
            <a:ext cx="4114800" cy="54864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82312" y="3694176"/>
            <a:ext cx="256032" cy="256032"/>
          </a:xfrm>
          <a:prstGeom prst="ellipse">
            <a:avLst/>
          </a:prstGeom>
          <a:solidFill>
            <a:srgbClr val="00C8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0" y="360273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6E"/>
                </a:solidFill>
              </a:rPr>
              <a:t>Next Day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43600" y="36027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89A"/>
                </a:solidFill>
              </a:rPr>
              <a:t>Closure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120640" y="3840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Lessons learned meeting — Playbook updated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56" b="38430"/>
          <a:stretch/>
        </p:blipFill>
        <p:spPr>
          <a:xfrm>
            <a:off x="1131281" y="251927"/>
            <a:ext cx="6277225" cy="454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1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20" r="1030"/>
          <a:stretch/>
        </p:blipFill>
        <p:spPr>
          <a:xfrm>
            <a:off x="1380931" y="363892"/>
            <a:ext cx="5467739" cy="463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6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590" y="876202"/>
            <a:ext cx="57912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048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 smtClean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kern="0" spc="20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LITERATURE REVIEW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12700">
            <a:solidFill>
              <a:srgbClr val="0066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8412480" cy="1462667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64008" cy="1252728"/>
          </a:xfrm>
          <a:prstGeom prst="rect">
            <a:avLst/>
          </a:prstGeom>
          <a:solidFill>
            <a:srgbClr val="00994D"/>
          </a:solidFill>
          <a:ln w="12700">
            <a:solidFill>
              <a:srgbClr val="0099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868680"/>
            <a:ext cx="1371600" cy="274320"/>
          </a:xfrm>
          <a:prstGeom prst="rect">
            <a:avLst/>
          </a:prstGeom>
          <a:solidFill>
            <a:srgbClr val="00994D"/>
          </a:solidFill>
          <a:ln w="12700">
            <a:solidFill>
              <a:srgbClr val="0099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68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NIST SP 800-61 Rev.2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84832" y="8686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Computer Security Incident Handling Guide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22529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9A"/>
                </a:solidFill>
              </a:rPr>
              <a:t>›  4-phase lifecycle: Preparation → Detection → Containment → Recovery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14218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9A"/>
                </a:solidFill>
              </a:rPr>
              <a:t>›  Standardized incident categorization &amp; priority levels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161848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9A"/>
                </a:solidFill>
              </a:rPr>
              <a:t>›  Evidence handling and documentation requirements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181508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9A"/>
                </a:solidFill>
              </a:rPr>
              <a:t>›  Foundation for our playbook structure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2440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 smtClean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LITERATURE </a:t>
            </a:r>
            <a:r>
              <a:rPr lang="en-US" sz="2400" b="1" kern="0" spc="20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12700">
            <a:solidFill>
              <a:srgbClr val="0066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530220"/>
            <a:ext cx="8412480" cy="2519266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94560"/>
            <a:ext cx="64008" cy="1252728"/>
          </a:xfrm>
          <a:prstGeom prst="rect">
            <a:avLst/>
          </a:prstGeom>
          <a:solidFill>
            <a:srgbClr val="007A40"/>
          </a:solidFill>
          <a:ln w="12700">
            <a:solidFill>
              <a:srgbClr val="007A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258568"/>
            <a:ext cx="1371600" cy="274320"/>
          </a:xfrm>
          <a:prstGeom prst="rect">
            <a:avLst/>
          </a:prstGeom>
          <a:solidFill>
            <a:srgbClr val="007A40"/>
          </a:solidFill>
          <a:ln w="12700">
            <a:solidFill>
              <a:srgbClr val="007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258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SANS Institute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84832" y="225856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Incident Handler's Handbook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261518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9A"/>
                </a:solidFill>
              </a:rPr>
              <a:t>›  Extended 6-phase PICERL model adopted in this project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28117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9A"/>
                </a:solidFill>
              </a:rPr>
              <a:t>›  Forensic preservation best practices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300837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9A"/>
                </a:solidFill>
              </a:rPr>
              <a:t>›  Communication protocols during active incidents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320497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9A"/>
                </a:solidFill>
              </a:rPr>
              <a:t>›  Post-incident lessons learned methodology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6024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1651519"/>
            <a:ext cx="91440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 smtClean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LITERATURE </a:t>
            </a:r>
            <a:r>
              <a:rPr lang="en-US" sz="2400" b="1" kern="0" spc="20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-956575"/>
            <a:ext cx="8229600" cy="0"/>
          </a:xfrm>
          <a:prstGeom prst="line">
            <a:avLst/>
          </a:prstGeom>
          <a:noFill/>
          <a:ln w="12700">
            <a:solidFill>
              <a:srgbClr val="0066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1932929"/>
            <a:ext cx="8412480" cy="1252728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1932929"/>
            <a:ext cx="64008" cy="1252728"/>
          </a:xfrm>
          <a:prstGeom prst="rect">
            <a:avLst/>
          </a:prstGeom>
          <a:solidFill>
            <a:srgbClr val="005C30"/>
          </a:solidFill>
          <a:ln w="12700">
            <a:solidFill>
              <a:srgbClr val="005C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1996937"/>
            <a:ext cx="1371600" cy="274320"/>
          </a:xfrm>
          <a:prstGeom prst="rect">
            <a:avLst/>
          </a:prstGeom>
          <a:solidFill>
            <a:srgbClr val="005C30"/>
          </a:solidFill>
          <a:ln w="12700">
            <a:solidFill>
              <a:srgbClr val="005C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1996937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MITRE ATT&amp;CK T1566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93392" y="1996937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Phishing — Tactics, Techniques &amp; Procedures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" y="2353553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9A"/>
                </a:solidFill>
              </a:rPr>
              <a:t>›  Sub-techniques: T1566.001 (Spear), .002 (Link), .003 (Service)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2550149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9A"/>
                </a:solidFill>
              </a:rPr>
              <a:t>›  Adversary behavioral mapping to defensive controls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2746745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9A"/>
                </a:solidFill>
              </a:rPr>
              <a:t>›  Detection logic: email gateway alerts &amp; user reports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2943341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9A"/>
                </a:solidFill>
              </a:rPr>
              <a:t>›  Mitigation: MFA, email filtering, </a:t>
            </a:r>
            <a:r>
              <a:rPr lang="en-US" sz="1050" dirty="0" smtClean="0">
                <a:solidFill>
                  <a:srgbClr val="8FA89A"/>
                </a:solidFill>
              </a:rPr>
              <a:t>security awareness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20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SCENARIO OVERVIEW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Organization: FinServe Corp. — Banking &amp; Financial Services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4206240" cy="548640"/>
          </a:xfrm>
          <a:prstGeom prst="rect">
            <a:avLst/>
          </a:prstGeom>
          <a:solidFill>
            <a:srgbClr val="0D1A12"/>
          </a:solidFill>
          <a:ln w="8890">
            <a:solidFill>
              <a:srgbClr val="1A3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692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Organization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10512" y="96926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FinServe Corp. (Mid-Size Financial Firm)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4206240" cy="548640"/>
          </a:xfrm>
          <a:prstGeom prst="rect">
            <a:avLst/>
          </a:prstGeom>
          <a:solidFill>
            <a:srgbClr val="0A1510"/>
          </a:solidFill>
          <a:ln w="8890">
            <a:solidFill>
              <a:srgbClr val="1A3D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5910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Target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810512" y="159105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Sarah Chen — Junior Accountant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2157984"/>
            <a:ext cx="4206240" cy="548640"/>
          </a:xfrm>
          <a:prstGeom prst="rect">
            <a:avLst/>
          </a:prstGeom>
          <a:solidFill>
            <a:srgbClr val="0D1A12"/>
          </a:solidFill>
          <a:ln w="8890">
            <a:solidFill>
              <a:srgbClr val="1A3D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2128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Attack Vector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810512" y="22128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Spear Phishing Email (T1566.002)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2779776"/>
            <a:ext cx="4206240" cy="548640"/>
          </a:xfrm>
          <a:prstGeom prst="rect">
            <a:avLst/>
          </a:prstGeom>
          <a:solidFill>
            <a:srgbClr val="0A1510"/>
          </a:solidFill>
          <a:ln w="8890">
            <a:solidFill>
              <a:srgbClr val="1A3D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Threat Actor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810512" y="28346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APT Group SILVER PHANTOM (Assumed)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" y="3401568"/>
            <a:ext cx="4206240" cy="548640"/>
          </a:xfrm>
          <a:prstGeom prst="rect">
            <a:avLst/>
          </a:prstGeom>
          <a:solidFill>
            <a:srgbClr val="0D1A12"/>
          </a:solidFill>
          <a:ln w="8890">
            <a:solidFill>
              <a:srgbClr val="1A3D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4564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Duration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810512" y="34564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09:00 – 14:00  (5 Hours Total)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4206240" cy="548640"/>
          </a:xfrm>
          <a:prstGeom prst="rect">
            <a:avLst/>
          </a:prstGeom>
          <a:solidFill>
            <a:srgbClr val="0A1510"/>
          </a:solidFill>
          <a:ln w="8890">
            <a:solidFill>
              <a:srgbClr val="1A3D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0782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810512" y="407822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Credential Compromise + Potential Wire Fraud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0" y="8778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0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TECHNICAL DECEPTION INDICATORS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00600" y="1170432"/>
            <a:ext cx="3977640" cy="548640"/>
          </a:xfrm>
          <a:prstGeom prst="rect">
            <a:avLst/>
          </a:prstGeom>
          <a:solidFill>
            <a:srgbClr val="130A0A"/>
          </a:solidFill>
          <a:ln w="8890">
            <a:solidFill>
              <a:srgbClr val="3D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1170432"/>
            <a:ext cx="50292" cy="548640"/>
          </a:xfrm>
          <a:prstGeom prst="rect">
            <a:avLst/>
          </a:prstGeom>
          <a:solidFill>
            <a:srgbClr val="FF4455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12435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Domain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19472" y="14447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✗  securebänk.com (Punycode)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00600" y="1792224"/>
            <a:ext cx="3977640" cy="548640"/>
          </a:xfrm>
          <a:prstGeom prst="rect">
            <a:avLst/>
          </a:prstGeom>
          <a:solidFill>
            <a:srgbClr val="130A0A"/>
          </a:solidFill>
          <a:ln w="8890">
            <a:solidFill>
              <a:srgbClr val="3D1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1792224"/>
            <a:ext cx="50292" cy="548640"/>
          </a:xfrm>
          <a:prstGeom prst="rect">
            <a:avLst/>
          </a:prstGeom>
          <a:solidFill>
            <a:srgbClr val="FF4455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18653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SPF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919472" y="20665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✗  FAIL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800600" y="2414016"/>
            <a:ext cx="3977640" cy="548640"/>
          </a:xfrm>
          <a:prstGeom prst="rect">
            <a:avLst/>
          </a:prstGeom>
          <a:solidFill>
            <a:srgbClr val="130A0A"/>
          </a:solidFill>
          <a:ln w="8890">
            <a:solidFill>
              <a:srgbClr val="3D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2414016"/>
            <a:ext cx="50292" cy="548640"/>
          </a:xfrm>
          <a:prstGeom prst="rect">
            <a:avLst/>
          </a:prstGeom>
          <a:solidFill>
            <a:srgbClr val="FF4455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24871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DKIM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919472" y="26883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✗  INVALID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800600" y="3035808"/>
            <a:ext cx="3977640" cy="548640"/>
          </a:xfrm>
          <a:prstGeom prst="rect">
            <a:avLst/>
          </a:prstGeom>
          <a:solidFill>
            <a:srgbClr val="130A0A"/>
          </a:solidFill>
          <a:ln w="8890">
            <a:solidFill>
              <a:srgbClr val="3D1A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035808"/>
            <a:ext cx="50292" cy="548640"/>
          </a:xfrm>
          <a:prstGeom prst="rect">
            <a:avLst/>
          </a:prstGeom>
          <a:solidFill>
            <a:srgbClr val="FF4455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3108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DMARC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919472" y="33101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✗  MISALIGN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800600" y="3657600"/>
            <a:ext cx="3977640" cy="548640"/>
          </a:xfrm>
          <a:prstGeom prst="rect">
            <a:avLst/>
          </a:prstGeom>
          <a:solidFill>
            <a:srgbClr val="130A0A"/>
          </a:solidFill>
          <a:ln w="8890">
            <a:solidFill>
              <a:srgbClr val="3D1A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3657600"/>
            <a:ext cx="50292" cy="548640"/>
          </a:xfrm>
          <a:prstGeom prst="rect">
            <a:avLst/>
          </a:prstGeom>
          <a:solidFill>
            <a:srgbClr val="FF4455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37307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919472" y="39319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✗  185.220.101.47 (Bulletproof)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800600" y="4279392"/>
            <a:ext cx="3977640" cy="548640"/>
          </a:xfrm>
          <a:prstGeom prst="rect">
            <a:avLst/>
          </a:prstGeom>
          <a:solidFill>
            <a:srgbClr val="130A0A"/>
          </a:solidFill>
          <a:ln w="8890">
            <a:solidFill>
              <a:srgbClr val="3D1A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4279392"/>
            <a:ext cx="50292" cy="548640"/>
          </a:xfrm>
          <a:prstGeom prst="rect">
            <a:avLst/>
          </a:prstGeom>
          <a:solidFill>
            <a:srgbClr val="FF4455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9472" y="43525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SSL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919472" y="4553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✗  Self-Signed / No SSL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90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20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THE BAIT — PHISHING EMAIL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Spearphishing Link Technique — MITRE T1566.002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96112"/>
            <a:ext cx="5120640" cy="3794760"/>
          </a:xfrm>
          <a:prstGeom prst="rect">
            <a:avLst/>
          </a:prstGeom>
          <a:solidFill>
            <a:srgbClr val="0F1A10"/>
          </a:solidFill>
          <a:ln w="12700">
            <a:solidFill>
              <a:srgbClr val="1A3D2B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96112"/>
            <a:ext cx="5120640" cy="347472"/>
          </a:xfrm>
          <a:prstGeom prst="rect">
            <a:avLst/>
          </a:prstGeom>
          <a:solidFill>
            <a:srgbClr val="1A2E1A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📧  EMAIL CLIENT — sarah.chen@finserve.com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3350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25880" y="13350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security@securebänk.com  ⚠ (securebxnk.com)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166420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25880" y="16642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sarah.chen@finserve.com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199339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Subject: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25880" y="19933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⚠️ Urgent: Account Verification Required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" y="23225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Date: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25880" y="23225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Mon, 19 May 2026  08:58:23 +0200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2697480"/>
            <a:ext cx="4846320" cy="0"/>
          </a:xfrm>
          <a:prstGeom prst="line">
            <a:avLst/>
          </a:prstGeom>
          <a:noFill/>
          <a:ln w="8890">
            <a:solidFill>
              <a:srgbClr val="1A3D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88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Dear Valued Customer,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33009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have detected unusual login activity on your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35570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business account. Your account has been temporarily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38130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restricted pending verification.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410794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verify your account within 24 hours to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434568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avoid service disruption.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168396" y="4123944"/>
            <a:ext cx="1920240" cy="201168"/>
          </a:xfrm>
          <a:prstGeom prst="roundRect">
            <a:avLst>
              <a:gd name="adj" fmla="val 18182"/>
            </a:avLst>
          </a:prstGeom>
          <a:solidFill>
            <a:srgbClr val="00994D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68396" y="414451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VERIFY ACCOUNT NOW →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760720" y="8961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445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 FLAGS IDENTIFIED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715000" y="1225296"/>
            <a:ext cx="3063240" cy="548640"/>
          </a:xfrm>
          <a:prstGeom prst="rect">
            <a:avLst/>
          </a:prstGeom>
          <a:solidFill>
            <a:srgbClr val="130A0A"/>
          </a:solidFill>
          <a:ln w="10160">
            <a:solidFill>
              <a:srgbClr val="3D1A1A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806440" y="1316736"/>
            <a:ext cx="201168" cy="201168"/>
          </a:xfrm>
          <a:prstGeom prst="ellipse">
            <a:avLst/>
          </a:prstGeom>
          <a:solidFill>
            <a:srgbClr val="FF4455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9904" y="1252728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Homograph domain: ä vs 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(Punycode attack)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715000" y="1865376"/>
            <a:ext cx="3063240" cy="548640"/>
          </a:xfrm>
          <a:prstGeom prst="rect">
            <a:avLst/>
          </a:prstGeom>
          <a:solidFill>
            <a:srgbClr val="130A0A"/>
          </a:solidFill>
          <a:ln w="10160">
            <a:solidFill>
              <a:srgbClr val="3D1A1A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06440" y="1956816"/>
            <a:ext cx="201168" cy="201168"/>
          </a:xfrm>
          <a:prstGeom prst="ellipse">
            <a:avLst/>
          </a:prstGeom>
          <a:solidFill>
            <a:srgbClr val="FF4455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9904" y="1892808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Urgency language: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"24 hours" pressure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715000" y="2505456"/>
            <a:ext cx="3063240" cy="548640"/>
          </a:xfrm>
          <a:prstGeom prst="rect">
            <a:avLst/>
          </a:prstGeom>
          <a:solidFill>
            <a:srgbClr val="130A0A"/>
          </a:solidFill>
          <a:ln w="10160">
            <a:solidFill>
              <a:srgbClr val="3D1A1A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806440" y="2596896"/>
            <a:ext cx="201168" cy="201168"/>
          </a:xfrm>
          <a:prstGeom prst="ellipse">
            <a:avLst/>
          </a:prstGeom>
          <a:solidFill>
            <a:srgbClr val="FF4455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9904" y="2532888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SPF / DKIM / DMARC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FAIL on header check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715000" y="3145536"/>
            <a:ext cx="3063240" cy="548640"/>
          </a:xfrm>
          <a:prstGeom prst="rect">
            <a:avLst/>
          </a:prstGeom>
          <a:solidFill>
            <a:srgbClr val="130A0A"/>
          </a:solidFill>
          <a:ln w="10160">
            <a:solidFill>
              <a:srgbClr val="3D1A1A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806440" y="3236976"/>
            <a:ext cx="201168" cy="201168"/>
          </a:xfrm>
          <a:prstGeom prst="ellipse">
            <a:avLst/>
          </a:prstGeom>
          <a:solidFill>
            <a:srgbClr val="FF4455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9904" y="3172968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 link — no SSL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certificate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715000" y="3785616"/>
            <a:ext cx="3063240" cy="548640"/>
          </a:xfrm>
          <a:prstGeom prst="rect">
            <a:avLst/>
          </a:prstGeom>
          <a:solidFill>
            <a:srgbClr val="130A0A"/>
          </a:solidFill>
          <a:ln w="10160">
            <a:solidFill>
              <a:srgbClr val="3D1A1A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806440" y="3877056"/>
            <a:ext cx="201168" cy="201168"/>
          </a:xfrm>
          <a:prstGeom prst="ellipse">
            <a:avLst/>
          </a:prstGeom>
          <a:solidFill>
            <a:srgbClr val="FF4455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9904" y="3813048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IP 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Bulletproof hosting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59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20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ATTACK TIMELINE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 timeline from email delivery to 72-hour recovery monitoring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96112"/>
            <a:ext cx="4160520" cy="512064"/>
          </a:xfrm>
          <a:prstGeom prst="rect">
            <a:avLst/>
          </a:prstGeom>
          <a:solidFill>
            <a:srgbClr val="0D1510"/>
          </a:solidFill>
          <a:ln w="8890">
            <a:solidFill>
              <a:srgbClr val="1A2E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201168" cy="201168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9326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08:58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17320" y="9326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 Access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971800" y="9326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T1566.002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11612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Phishing email delivered to inbox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1481328"/>
            <a:ext cx="4160520" cy="512064"/>
          </a:xfrm>
          <a:prstGeom prst="rect">
            <a:avLst/>
          </a:prstGeom>
          <a:solidFill>
            <a:srgbClr val="0D1510"/>
          </a:solidFill>
          <a:ln w="8890">
            <a:solidFill>
              <a:srgbClr val="1A2E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636776"/>
            <a:ext cx="201168" cy="201168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5179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09:00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17320" y="15179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71800" y="15179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T1204.001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5800" y="17465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Sarah opens email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2066544"/>
            <a:ext cx="4160520" cy="512064"/>
          </a:xfrm>
          <a:prstGeom prst="rect">
            <a:avLst/>
          </a:prstGeom>
          <a:solidFill>
            <a:srgbClr val="0D1510"/>
          </a:solidFill>
          <a:ln w="8890">
            <a:solidFill>
              <a:srgbClr val="1A2E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221992"/>
            <a:ext cx="201168" cy="201168"/>
          </a:xfrm>
          <a:prstGeom prst="ellipse">
            <a:avLst/>
          </a:prstGeom>
          <a:solidFill>
            <a:srgbClr val="FF4455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10312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445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09:02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17320" y="21031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971800" y="21031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T1204.001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5800" y="233172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Clicks malicious link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2651760"/>
            <a:ext cx="4160520" cy="512064"/>
          </a:xfrm>
          <a:prstGeom prst="rect">
            <a:avLst/>
          </a:prstGeom>
          <a:solidFill>
            <a:srgbClr val="0D1510"/>
          </a:solidFill>
          <a:ln w="8890">
            <a:solidFill>
              <a:srgbClr val="1A2E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2807208"/>
            <a:ext cx="201168" cy="201168"/>
          </a:xfrm>
          <a:prstGeom prst="ellipse">
            <a:avLst/>
          </a:prstGeom>
          <a:solidFill>
            <a:srgbClr val="FF4455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68833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445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09:05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417320" y="26883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Credential Access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971800" y="26883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T1003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5800" y="291693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Enters credentials on fake page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0040" y="3236976"/>
            <a:ext cx="4160520" cy="512064"/>
          </a:xfrm>
          <a:prstGeom prst="rect">
            <a:avLst/>
          </a:prstGeom>
          <a:solidFill>
            <a:srgbClr val="0D1510"/>
          </a:solidFill>
          <a:ln w="8890">
            <a:solidFill>
              <a:srgbClr val="1A2E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392424"/>
            <a:ext cx="201168" cy="201168"/>
          </a:xfrm>
          <a:prstGeom prst="ellipse">
            <a:avLst/>
          </a:prstGeom>
          <a:solidFill>
            <a:srgbClr val="FF4455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27355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445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09:06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417320" y="32735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Exfiltration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971800" y="32735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T1041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85800" y="350215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Credentials sent to C2 server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20040" y="3822192"/>
            <a:ext cx="4160520" cy="512064"/>
          </a:xfrm>
          <a:prstGeom prst="rect">
            <a:avLst/>
          </a:prstGeom>
          <a:solidFill>
            <a:srgbClr val="0D1510"/>
          </a:solidFill>
          <a:ln w="8890">
            <a:solidFill>
              <a:srgbClr val="1A2E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3977640"/>
            <a:ext cx="201168" cy="201168"/>
          </a:xfrm>
          <a:prstGeom prst="ellipse">
            <a:avLst/>
          </a:prstGeom>
          <a:solidFill>
            <a:srgbClr val="FF4455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385876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445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09:15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417320" y="38587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Lateral Movement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971800" y="38587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T1021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85800" y="408736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Attacker logs in with stolen creds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20040" y="4407408"/>
            <a:ext cx="4160520" cy="512064"/>
          </a:xfrm>
          <a:prstGeom prst="rect">
            <a:avLst/>
          </a:prstGeom>
          <a:solidFill>
            <a:srgbClr val="0D1510"/>
          </a:solidFill>
          <a:ln w="8890">
            <a:solidFill>
              <a:srgbClr val="1A2E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4562856"/>
            <a:ext cx="201168" cy="201168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444398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09:30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417320" y="44439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Detection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971800" y="44439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85800" y="467258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Sarah reports suspicious activity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754880" y="896112"/>
            <a:ext cx="4160520" cy="512064"/>
          </a:xfrm>
          <a:prstGeom prst="rect">
            <a:avLst/>
          </a:prstGeom>
          <a:solidFill>
            <a:srgbClr val="0D1510"/>
          </a:solidFill>
          <a:ln w="8890">
            <a:solidFill>
              <a:srgbClr val="1A2E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46320" y="1051560"/>
            <a:ext cx="201168" cy="201168"/>
          </a:xfrm>
          <a:prstGeom prst="ellipse">
            <a:avLst/>
          </a:prstGeom>
          <a:solidFill>
            <a:srgbClr val="00C86E"/>
          </a:solidFill>
          <a:ln w="12700">
            <a:solidFill>
              <a:srgbClr val="00C8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0" y="9326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09:45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852160" y="9326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Identification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406640" y="9326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120640" y="11612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SOC Analyst confirms phishing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754880" y="1481328"/>
            <a:ext cx="4160520" cy="512064"/>
          </a:xfrm>
          <a:prstGeom prst="rect">
            <a:avLst/>
          </a:prstGeom>
          <a:solidFill>
            <a:srgbClr val="0D1510"/>
          </a:solidFill>
          <a:ln w="8890">
            <a:solidFill>
              <a:srgbClr val="1A2E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6320" y="1636776"/>
            <a:ext cx="201168" cy="20116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20640" y="15179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10:00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852160" y="15179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Preparation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406640" y="15179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5120640" y="17465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IR Playbook activated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754880" y="2066544"/>
            <a:ext cx="4160520" cy="512064"/>
          </a:xfrm>
          <a:prstGeom prst="rect">
            <a:avLst/>
          </a:prstGeom>
          <a:solidFill>
            <a:srgbClr val="0D1510"/>
          </a:solidFill>
          <a:ln w="8890">
            <a:solidFill>
              <a:srgbClr val="1A2E1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46320" y="2221992"/>
            <a:ext cx="201168" cy="20116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20640" y="210312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10:30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5852160" y="21031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Containment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7406640" y="21031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T1485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5120640" y="233172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Domain blocked, endpoint isolated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4754880" y="2651760"/>
            <a:ext cx="4160520" cy="512064"/>
          </a:xfrm>
          <a:prstGeom prst="rect">
            <a:avLst/>
          </a:prstGeom>
          <a:solidFill>
            <a:srgbClr val="0D1510"/>
          </a:solidFill>
          <a:ln w="8890">
            <a:solidFill>
              <a:srgbClr val="1A2E1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46320" y="2807208"/>
            <a:ext cx="201168" cy="20116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20640" y="268833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12:00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5852160" y="26883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Eradication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7406640" y="26883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T1205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5120640" y="291693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Malware removed, creds reset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4754880" y="3236976"/>
            <a:ext cx="4160520" cy="512064"/>
          </a:xfrm>
          <a:prstGeom prst="rect">
            <a:avLst/>
          </a:prstGeom>
          <a:solidFill>
            <a:srgbClr val="0D1510"/>
          </a:solidFill>
          <a:ln w="8890">
            <a:solidFill>
              <a:srgbClr val="1A2E1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46320" y="3392424"/>
            <a:ext cx="201168" cy="20116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20640" y="327355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13:00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5852160" y="32735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Recovery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7406640" y="32735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5120640" y="350215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Systems restored from backup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754880" y="3822192"/>
            <a:ext cx="4160520" cy="512064"/>
          </a:xfrm>
          <a:prstGeom prst="rect">
            <a:avLst/>
          </a:prstGeom>
          <a:solidFill>
            <a:srgbClr val="0D1510"/>
          </a:solidFill>
          <a:ln w="8890">
            <a:solidFill>
              <a:srgbClr val="1A2E1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46320" y="3977640"/>
            <a:ext cx="201168" cy="20116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120640" y="385876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14:00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5852160" y="38587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Recovery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7406640" y="38587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5120640" y="408736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72-hour monitoring initiated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423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20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PHASE 1 &amp; 2 — PREPARATION + IDENTIFICATION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SANS PICERL Model — Phases 1 and 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96112"/>
            <a:ext cx="4206240" cy="3785616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4206240" cy="402336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052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1A0D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 PREPARATION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140817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Security Awareness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160934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Quarterly phishing simulations &amp; training for all employees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193852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📧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195681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Email Gateway Controls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21579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SPF / DKIM / DMARC enforced — alerts on failure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248716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📊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8680" y="250545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SIEM Monitoring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8680" y="270662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Splunk with correlation rules for suspicious logins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1480" y="303580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👥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8680" y="305409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IR Team &amp; Roles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68680" y="325526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SOC Analyst, IR Lead, IT Admin, Legal — pre-defined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1480" y="358444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🎫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8680" y="360273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Incident Ticketing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68680" y="380390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ServiceNow integration — auto-ticket on SIEM alert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00600" y="896112"/>
            <a:ext cx="3977640" cy="3785616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896112"/>
            <a:ext cx="3977640" cy="402336"/>
          </a:xfrm>
          <a:prstGeom prst="rect">
            <a:avLst/>
          </a:prstGeom>
          <a:solidFill>
            <a:srgbClr val="00994D"/>
          </a:solidFill>
          <a:ln w="12700">
            <a:solidFill>
              <a:srgbClr val="0099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9052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1A0D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 IDENTIFICATION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64608" y="138988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🔔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21808" y="14081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SIEM Alert Triggered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321808" y="16093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Rule: Suspicious login from foreign IP 185.220.101.47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64608" y="193852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🔎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321808" y="195681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Email Header Analysis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21808" y="21579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SPF FAIL • DKIM INVALID • Punycode domain detected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64608" y="248716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🧪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321808" y="250545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URL Sandbox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321808" y="27066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securebänk-verify.com → credential harvester confirmed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64608" y="303580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321808" y="30540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IoC Documentation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321808" y="325526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Domain + IP + MD5 hash logged in incident ticket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864608" y="358444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⚠️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321808" y="360273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Severity: HIGH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321808" y="380390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Confirmed compromise — IR Playbook activation triggered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944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20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PHASE 3 &amp; 4 — CONTAINMENT + ERADICATION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Stopping the threat and removing all malicious artifacts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96112"/>
            <a:ext cx="4206240" cy="3785616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4206240" cy="402336"/>
          </a:xfrm>
          <a:prstGeom prst="rect">
            <a:avLst/>
          </a:prstGeom>
          <a:solidFill>
            <a:srgbClr val="007A40"/>
          </a:solidFill>
          <a:ln w="12700">
            <a:solidFill>
              <a:srgbClr val="007A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052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 CONTAINMENT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🚫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140817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Block Malicious Domain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160934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securebänk-verify.com blocked at DNS + firewall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193852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🔌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195681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Isolate Endpoint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21579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WS-ACCT-042 removed from network — VLAN quarantine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248716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🔒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8680" y="250545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Disable Account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8680" y="270662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sarah.chen account suspended — all sessions revoked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1480" y="303580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🔥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8680" y="305409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Block C2 IP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68680" y="325526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185.220.101.47 blocked on perimeter firewall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1480" y="358444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📢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8680" y="360273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Notify Stakeholders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68680" y="380390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IR Lead, Legal, and affected department notified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00600" y="896112"/>
            <a:ext cx="3977640" cy="3785616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896112"/>
            <a:ext cx="3977640" cy="402336"/>
          </a:xfrm>
          <a:prstGeom prst="rect">
            <a:avLst/>
          </a:prstGeom>
          <a:solidFill>
            <a:srgbClr val="005C30"/>
          </a:solidFill>
          <a:ln w="12700">
            <a:solidFill>
              <a:srgbClr val="005C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9052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 ERADICATION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64608" y="138988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🔬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21808" y="14081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 AV / EDR Scan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321808" y="16093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Endpoint scanned — update.exe (MD5 d41d8c…) removed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64608" y="193852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🗑️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321808" y="195681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Clear Malicious Artifacts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21808" y="21579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AppData\Temp cleared, browser cache wiped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64608" y="248716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🔑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321808" y="250545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Reset All Credentials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321808" y="27066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Sarah + shared accounts — force password + MFA reset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64608" y="303580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📨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321808" y="30540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Recall Phishing Email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321808" y="325526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Email recalled from all FinServe recipients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864608" y="358444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🔍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321808" y="360273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Verify Clean State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321808" y="380390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Re-scan confirms no persistence — IOCs absent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3213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20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PHASE 5 &amp; 6 — RECOVERY + LESSONS LEARNED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Restoring operations and improving future defenses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96112"/>
            <a:ext cx="4206240" cy="3785616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4206240" cy="402336"/>
          </a:xfrm>
          <a:prstGeom prst="rect">
            <a:avLst/>
          </a:prstGeom>
          <a:solidFill>
            <a:srgbClr val="004D26"/>
          </a:solidFill>
          <a:ln w="12700">
            <a:solidFill>
              <a:srgbClr val="004D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052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 RECOVERY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💾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140817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Reimage Endpoint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160934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WS-ACCT-042 reimaged from clean gold image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193852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✅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195681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Re-enable Account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21579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sarah.chen restored — MFA enforced on login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248716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👁️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8680" y="250545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72-hr Enhanced Monitoring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8680" y="270662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SIEM watchlist active — any IoC triggers alert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1480" y="303580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🏢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8680" y="305409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Verify Business Ops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68680" y="325526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Finance confirmed — no wire transfers initiated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1480" y="358444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📋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8680" y="360273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Status Communication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68680" y="380390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Management briefed — incident closed at 14:00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00600" y="896112"/>
            <a:ext cx="3977640" cy="3785616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896112"/>
            <a:ext cx="3977640" cy="402336"/>
          </a:xfrm>
          <a:prstGeom prst="rect">
            <a:avLst/>
          </a:prstGeom>
          <a:solidFill>
            <a:srgbClr val="003D1F"/>
          </a:solidFill>
          <a:ln w="12700">
            <a:solidFill>
              <a:srgbClr val="003D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9052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 LESSONS LEARNED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64608" y="138988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🔍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21808" y="14081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 Cause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321808" y="16093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Homograph / Punycode attack bypassed visual inspection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64608" y="193852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⚠️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321808" y="195681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Gap Identified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21808" y="21579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Punycode detection in email gateway — critical gap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64608" y="248716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🔧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321808" y="250545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Fix Applied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321808" y="27066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Internationalized domain filtering deployed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64608" y="303580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🛡️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321808" y="30540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MFA Would Have Stopped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321808" y="325526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Account takeover prevented even with stolen password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864608" y="358444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📊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321808" y="360273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86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KPIs All Met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321808" y="380390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MTTD 45min  ✅ | MTTC 90min ✅ | MTTR 5hrs ✅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0758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20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FORENSIC ARTIFACTS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Evidence collected during investigation — Email · Network · Endpoint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0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EMAIL ARTIFACTS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2743200" cy="338328"/>
          </a:xfrm>
          <a:prstGeom prst="rect">
            <a:avLst/>
          </a:prstGeom>
          <a:solidFill>
            <a:srgbClr val="0D1510"/>
          </a:solidFill>
          <a:ln w="7620">
            <a:solidFill>
              <a:srgbClr val="1A3D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0700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Message-ID: &lt;a1b2c3d4@securebxnk.com&gt;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2743200" cy="338328"/>
          </a:xfrm>
          <a:prstGeom prst="rect">
            <a:avLst/>
          </a:prstGeom>
          <a:solidFill>
            <a:srgbClr val="0D1510"/>
          </a:solidFill>
          <a:ln w="7620">
            <a:solidFill>
              <a:srgbClr val="1A3D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60934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X-Mailer: PHPMailer 6.5.0 (spoofed)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1975104"/>
            <a:ext cx="2743200" cy="338328"/>
          </a:xfrm>
          <a:prstGeom prst="rect">
            <a:avLst/>
          </a:prstGeom>
          <a:solidFill>
            <a:srgbClr val="0D1510"/>
          </a:solidFill>
          <a:ln w="7620">
            <a:solidFill>
              <a:srgbClr val="1A3D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01168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Received from: mail.securebxnk.com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2743200" cy="338328"/>
          </a:xfrm>
          <a:prstGeom prst="rect">
            <a:avLst/>
          </a:prstGeom>
          <a:solidFill>
            <a:srgbClr val="0D1510"/>
          </a:solidFill>
          <a:ln w="7620">
            <a:solidFill>
              <a:srgbClr val="1A3D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41401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›  HELO: mx-01.bullet-host.net [185.220.101.47]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37560" y="8961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0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INDICATORS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37560" y="1170432"/>
            <a:ext cx="2743200" cy="338328"/>
          </a:xfrm>
          <a:prstGeom prst="rect">
            <a:avLst/>
          </a:prstGeom>
          <a:solidFill>
            <a:srgbClr val="130A0A"/>
          </a:solidFill>
          <a:ln w="7620">
            <a:solidFill>
              <a:srgbClr val="3D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18872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Malicious Domain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29000" y="1335024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securebänk-verify.com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337560" y="1572768"/>
            <a:ext cx="2743200" cy="338328"/>
          </a:xfrm>
          <a:prstGeom prst="rect">
            <a:avLst/>
          </a:prstGeom>
          <a:solidFill>
            <a:srgbClr val="130A0A"/>
          </a:solidFill>
          <a:ln w="7620">
            <a:solidFill>
              <a:srgbClr val="3D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159105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 Address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29000" y="1737360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185.220.101.47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337560" y="1975104"/>
            <a:ext cx="2743200" cy="338328"/>
          </a:xfrm>
          <a:prstGeom prst="rect">
            <a:avLst/>
          </a:prstGeom>
          <a:solidFill>
            <a:srgbClr val="130A0A"/>
          </a:solidFill>
          <a:ln w="7620">
            <a:solidFill>
              <a:srgbClr val="3D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99339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 Request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29000" y="2139696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 /api/collect HTTP/1.1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337560" y="2377440"/>
            <a:ext cx="2743200" cy="338328"/>
          </a:xfrm>
          <a:prstGeom prst="rect">
            <a:avLst/>
          </a:prstGeom>
          <a:solidFill>
            <a:srgbClr val="130A0A"/>
          </a:solidFill>
          <a:ln w="7620">
            <a:solidFill>
              <a:srgbClr val="3D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239572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C2 Beacon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429000" y="2542032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300s → 185.220.101.47:443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09360" y="8961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0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ENDPOINT ARTIFACTS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09360" y="1170432"/>
            <a:ext cx="2514600" cy="338328"/>
          </a:xfrm>
          <a:prstGeom prst="rect">
            <a:avLst/>
          </a:prstGeom>
          <a:solidFill>
            <a:srgbClr val="0A0A13"/>
          </a:solidFill>
          <a:ln w="7620">
            <a:solidFill>
              <a:srgbClr val="1A1A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1887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8888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Malware Path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00800" y="1335024"/>
            <a:ext cx="2313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AppData\Local\Temp\update.exe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309360" y="1572768"/>
            <a:ext cx="2514600" cy="338328"/>
          </a:xfrm>
          <a:prstGeom prst="rect">
            <a:avLst/>
          </a:prstGeom>
          <a:solidFill>
            <a:srgbClr val="0A0A13"/>
          </a:solidFill>
          <a:ln w="7620">
            <a:solidFill>
              <a:srgbClr val="1A1A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15910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8888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MD5 Hash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00800" y="1737360"/>
            <a:ext cx="2313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d41d8cd98f00b204e9800998ecf8427e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309360" y="1975104"/>
            <a:ext cx="2514600" cy="338328"/>
          </a:xfrm>
          <a:prstGeom prst="rect">
            <a:avLst/>
          </a:prstGeom>
          <a:solidFill>
            <a:srgbClr val="0A0A13"/>
          </a:solidFill>
          <a:ln w="7620">
            <a:solidFill>
              <a:srgbClr val="1A1A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199339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8888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Browser History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00800" y="2139696"/>
            <a:ext cx="2313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securebänk-verify.com @ 09:02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309360" y="2377440"/>
            <a:ext cx="2514600" cy="338328"/>
          </a:xfrm>
          <a:prstGeom prst="rect">
            <a:avLst/>
          </a:prstGeom>
          <a:solidFill>
            <a:srgbClr val="0A0A13"/>
          </a:solidFill>
          <a:ln w="7620">
            <a:solidFill>
              <a:srgbClr val="1A1A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3957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8888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Event ID 4624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00800" y="2542032"/>
            <a:ext cx="2313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Suspicious login @ 09:15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65760" y="29260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0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MITRE ATT&amp;CK MAPPING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65760" y="3227832"/>
            <a:ext cx="8412480" cy="310896"/>
          </a:xfrm>
          <a:prstGeom prst="rect">
            <a:avLst/>
          </a:prstGeom>
          <a:solidFill>
            <a:srgbClr val="0D1510"/>
          </a:solidFill>
          <a:ln w="6350">
            <a:solidFill>
              <a:srgbClr val="1A3D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32826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 Access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176272" y="32826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T1566.002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145536" y="3282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Spearphishing Link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212080" y="32826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Malicious email with fake bank URL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65760" y="3575304"/>
            <a:ext cx="8412480" cy="310896"/>
          </a:xfrm>
          <a:prstGeom prst="rect">
            <a:avLst/>
          </a:prstGeom>
          <a:solidFill>
            <a:srgbClr val="0A1310"/>
          </a:solidFill>
          <a:ln w="6350">
            <a:solidFill>
              <a:srgbClr val="1A3D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" y="3630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176272" y="3630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T1204.001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3145536" y="3630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Execution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212080" y="3630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Sarah clicked the link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365760" y="3922776"/>
            <a:ext cx="8412480" cy="310896"/>
          </a:xfrm>
          <a:prstGeom prst="rect">
            <a:avLst/>
          </a:prstGeom>
          <a:solidFill>
            <a:srgbClr val="0D1510"/>
          </a:solidFill>
          <a:ln w="6350">
            <a:solidFill>
              <a:srgbClr val="1A3D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" y="3977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Credential Access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176272" y="3977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T1003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3145536" y="3977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OS Credential Dumping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212080" y="39776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Credentials harvested via fake login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365760" y="4270248"/>
            <a:ext cx="8412480" cy="310896"/>
          </a:xfrm>
          <a:prstGeom prst="rect">
            <a:avLst/>
          </a:prstGeom>
          <a:solidFill>
            <a:srgbClr val="0A1310"/>
          </a:solidFill>
          <a:ln w="6350">
            <a:solidFill>
              <a:srgbClr val="1A3D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" y="43251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Exfiltration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2176272" y="4325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T1041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3145536" y="43251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Exfil Over C2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212080" y="43251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Credentials sent to 185.220.101.47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365760" y="4617720"/>
            <a:ext cx="8412480" cy="310896"/>
          </a:xfrm>
          <a:prstGeom prst="rect">
            <a:avLst/>
          </a:prstGeom>
          <a:solidFill>
            <a:srgbClr val="0D1510"/>
          </a:solidFill>
          <a:ln w="6350">
            <a:solidFill>
              <a:srgbClr val="1A3D2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" y="46725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Defense Evasion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176272" y="46725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T1036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3145536" y="46725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Masquerading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5212080" y="46725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Fake page mimicked real bank site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426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20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KPIs &amp; KEY TAKEAWAYS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response targets met — Incident closed at 14:00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96112"/>
            <a:ext cx="1965960" cy="182880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96112"/>
            <a:ext cx="196596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509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MTTD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Mean Time to Detect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1600200" cy="0"/>
          </a:xfrm>
          <a:prstGeom prst="line">
            <a:avLst/>
          </a:prstGeom>
          <a:noFill/>
          <a:ln w="6350">
            <a:solidFill>
              <a:srgbClr val="0066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7393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 min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21031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Target: &lt; 60 min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85800" y="2340864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004422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408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 MET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560320" y="896112"/>
            <a:ext cx="1965960" cy="182880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896112"/>
            <a:ext cx="196596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9509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MTTC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560320" y="14447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Mean Time to Contain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0" y="1737360"/>
            <a:ext cx="1600200" cy="0"/>
          </a:xfrm>
          <a:prstGeom prst="line">
            <a:avLst/>
          </a:prstGeom>
          <a:noFill/>
          <a:ln w="6350">
            <a:solidFill>
              <a:srgbClr val="0066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177393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90 min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560320" y="21031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Target: &lt; 2 hrs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880360" y="2340864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004422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0360" y="23408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 MET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80" y="896112"/>
            <a:ext cx="1965960" cy="182880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896112"/>
            <a:ext cx="196596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9509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MTTE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54880" y="14447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Mean Time to Eradicate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937760" y="1737360"/>
            <a:ext cx="1600200" cy="0"/>
          </a:xfrm>
          <a:prstGeom prst="line">
            <a:avLst/>
          </a:prstGeom>
          <a:noFill/>
          <a:ln w="6350">
            <a:solidFill>
              <a:srgbClr val="0066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77393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2.5 hrs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754880" y="21031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Target: &lt; 4 hrs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074920" y="2340864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004422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23408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 MET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949440" y="896112"/>
            <a:ext cx="1965960" cy="1828800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49440" y="896112"/>
            <a:ext cx="196596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9509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MTTR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949440" y="14447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Mean Time to Recover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132320" y="1737360"/>
            <a:ext cx="1600200" cy="0"/>
          </a:xfrm>
          <a:prstGeom prst="line">
            <a:avLst/>
          </a:prstGeom>
          <a:noFill/>
          <a:ln w="6350">
            <a:solidFill>
              <a:srgbClr val="0066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177393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hrs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949440" y="21031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Target: &lt; 8 hrs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269480" y="2340864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004422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69480" y="23408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 MET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65760" y="287121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0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TAKEAWAYS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65760" y="3163824"/>
            <a:ext cx="8412480" cy="310896"/>
          </a:xfrm>
          <a:prstGeom prst="rect">
            <a:avLst/>
          </a:prstGeom>
          <a:solidFill>
            <a:srgbClr val="0D1510"/>
          </a:solidFill>
          <a:ln w="6350">
            <a:solidFill>
              <a:srgbClr val="1A3D2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8912" y="3218688"/>
            <a:ext cx="329184" cy="201168"/>
          </a:xfrm>
          <a:prstGeom prst="roundRect">
            <a:avLst>
              <a:gd name="adj" fmla="val 13636"/>
            </a:avLst>
          </a:prstGeom>
          <a:solidFill>
            <a:srgbClr val="006633"/>
          </a:solidFill>
          <a:ln w="10160">
            <a:solidFill>
              <a:srgbClr val="00FF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321868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41248" y="320040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Homograph (Punycode) attacks are highly effective against visual inspection — deploy IDN filtering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65760" y="3529584"/>
            <a:ext cx="8412480" cy="310896"/>
          </a:xfrm>
          <a:prstGeom prst="rect">
            <a:avLst/>
          </a:prstGeom>
          <a:solidFill>
            <a:srgbClr val="0A1310"/>
          </a:solidFill>
          <a:ln w="6350">
            <a:solidFill>
              <a:srgbClr val="1A3D2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8912" y="3584448"/>
            <a:ext cx="329184" cy="201168"/>
          </a:xfrm>
          <a:prstGeom prst="roundRect">
            <a:avLst>
              <a:gd name="adj" fmla="val 13636"/>
            </a:avLst>
          </a:prstGeom>
          <a:solidFill>
            <a:srgbClr val="006633"/>
          </a:solidFill>
          <a:ln w="10160">
            <a:solidFill>
              <a:srgbClr val="00FF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" y="358444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841248" y="356616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SPF / DKIM / DMARC must be enforced, not just monitored — misconfiguration allowed delivery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65760" y="3895344"/>
            <a:ext cx="8412480" cy="310896"/>
          </a:xfrm>
          <a:prstGeom prst="rect">
            <a:avLst/>
          </a:prstGeom>
          <a:solidFill>
            <a:srgbClr val="0D1510"/>
          </a:solidFill>
          <a:ln w="6350">
            <a:solidFill>
              <a:srgbClr val="1A3D2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8912" y="3950208"/>
            <a:ext cx="329184" cy="201168"/>
          </a:xfrm>
          <a:prstGeom prst="roundRect">
            <a:avLst>
              <a:gd name="adj" fmla="val 13636"/>
            </a:avLst>
          </a:prstGeom>
          <a:solidFill>
            <a:srgbClr val="006633"/>
          </a:solidFill>
          <a:ln w="10160">
            <a:solidFill>
              <a:srgbClr val="00FF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" y="39502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41248" y="393192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reporting was the critical detection mechanism — automated tools alone were insufficient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365760" y="4261104"/>
            <a:ext cx="8412480" cy="310896"/>
          </a:xfrm>
          <a:prstGeom prst="rect">
            <a:avLst/>
          </a:prstGeom>
          <a:solidFill>
            <a:srgbClr val="0A1310"/>
          </a:solidFill>
          <a:ln w="6350">
            <a:solidFill>
              <a:srgbClr val="1A3D2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8912" y="4315968"/>
            <a:ext cx="329184" cy="201168"/>
          </a:xfrm>
          <a:prstGeom prst="roundRect">
            <a:avLst>
              <a:gd name="adj" fmla="val 13636"/>
            </a:avLst>
          </a:prstGeom>
          <a:solidFill>
            <a:srgbClr val="006633"/>
          </a:solidFill>
          <a:ln w="10160">
            <a:solidFill>
              <a:srgbClr val="00FF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" y="43159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841248" y="429768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Rapid containment (90 min) prevented financial loss — lateral movement was already in progress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365760" y="4626864"/>
            <a:ext cx="8412480" cy="310896"/>
          </a:xfrm>
          <a:prstGeom prst="rect">
            <a:avLst/>
          </a:prstGeom>
          <a:solidFill>
            <a:srgbClr val="0D1510"/>
          </a:solidFill>
          <a:ln w="6350">
            <a:solidFill>
              <a:srgbClr val="1A3D2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38912" y="4681728"/>
            <a:ext cx="329184" cy="201168"/>
          </a:xfrm>
          <a:prstGeom prst="roundRect">
            <a:avLst>
              <a:gd name="adj" fmla="val 13636"/>
            </a:avLst>
          </a:prstGeom>
          <a:solidFill>
            <a:srgbClr val="006633"/>
          </a:solidFill>
          <a:ln w="10160">
            <a:solidFill>
              <a:srgbClr val="00FF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" y="46817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841248" y="466344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0D4C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MFA would have prevented account takeover even with stolen credentials — enforce immediately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551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6192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48256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72384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84448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96512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32704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4768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56832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68896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3024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05088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7152" y="0"/>
            <a:ext cx="0" cy="514350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12064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24128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048256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584448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096512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1625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12801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40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11480" y="60350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Incident closed. All 6 phases executed. All KPIs met.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65760" y="960120"/>
            <a:ext cx="4160520" cy="1261872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960120"/>
            <a:ext cx="54864" cy="126187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1051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✦  Complete 6-Phase Response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30352" y="139903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SANS PICERL phases executed successfully within the 5-hour window — from detection to recovery.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754880" y="960120"/>
            <a:ext cx="4160520" cy="1261872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960120"/>
            <a:ext cx="54864" cy="126187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1051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✦  Homograph Attack Contained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919472" y="139903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Punycode domain attack by APT SILVER PHANTOM was detected, contained, and eradicated without financial loss.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65760" y="2377440"/>
            <a:ext cx="4160520" cy="1261872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5760" y="2377440"/>
            <a:ext cx="54864" cy="126187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24688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✦  Standards-Aligned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30352" y="281635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action mapped to MITRE ATT&amp;CK T1566, NIST SP 800-61, and SANS — fully compliant and documented.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754880" y="2377440"/>
            <a:ext cx="4160520" cy="1261872"/>
          </a:xfrm>
          <a:prstGeom prst="rect">
            <a:avLst/>
          </a:prstGeom>
          <a:solidFill>
            <a:srgbClr val="111A15"/>
          </a:solidFill>
          <a:ln w="12700">
            <a:solidFill>
              <a:srgbClr val="1A3D2B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2377440"/>
            <a:ext cx="54864" cy="126187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9472" y="24688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✦  Playbook Validated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919472" y="281635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8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Simulation confirmed the playbook works under real-world conditions — gaps identified and patched immediately.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2286000" y="4315968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004422"/>
          </a:solidFill>
          <a:ln w="25400">
            <a:solidFill>
              <a:srgbClr val="00FF88"/>
            </a:solidFill>
            <a:prstDash val="solid"/>
          </a:ln>
          <a:effectLst>
            <a:outerShdw blurRad="889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2286000" y="431596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  —  Questions Welcome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4261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2977</Words>
  <Application>Microsoft Office PowerPoint</Application>
  <PresentationFormat>On-screen Show (16:9)</PresentationFormat>
  <Paragraphs>650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Arial Black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 Response Playbook - Phishing Attacks</dc:title>
  <dc:subject>PptxGenJS Presentation</dc:subject>
  <dc:creator>Mohamed Abbasy</dc:creator>
  <cp:lastModifiedBy>Mohamed Ahmed Mohamed Abbasy</cp:lastModifiedBy>
  <cp:revision>17</cp:revision>
  <dcterms:created xsi:type="dcterms:W3CDTF">2026-05-20T20:22:25Z</dcterms:created>
  <dcterms:modified xsi:type="dcterms:W3CDTF">2026-05-22T16:19:03Z</dcterms:modified>
</cp:coreProperties>
</file>